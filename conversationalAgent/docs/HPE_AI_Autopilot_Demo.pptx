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59" r:id="rId7"/>
    <p:sldId id="260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660"/>
  </p:normalViewPr>
  <p:slideViewPr>
    <p:cSldViewPr snapToGrid="0" snapToObjects="1">
      <p:cViewPr varScale="1">
        <p:scale>
          <a:sx n="137" d="100"/>
          <a:sy n="137" d="100"/>
        </p:scale>
        <p:origin x="1440" y="1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982"/>
                </a:solidFill>
              </a:rPr>
              <a:t>Hewlett Packard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HPE AI Autopilot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CCCCCC"/>
                </a:solidFill>
              </a:rPr>
              <a:t>Intelligent IT Operations — From Alert to Resolution in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206240"/>
            <a:ext cx="2743200" cy="3657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99999"/>
                </a:solidFill>
              </a:rPr>
              <a:t>AI Innovation Demo  |  March 2026</a:t>
            </a:r>
          </a:p>
          <a:p>
            <a:r>
              <a:rPr sz="1400">
                <a:solidFill>
                  <a:srgbClr val="999999"/>
                </a:solidFill>
              </a:rPr>
              <a:t>Vishnu Dutt Kidambi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2801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KEY CAPABILITIES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6459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🔴  </a:t>
            </a:r>
            <a:r>
              <a:rPr sz="1500">
                <a:solidFill>
                  <a:srgbClr val="CCCCCC"/>
                </a:solidFill>
              </a:rPr>
              <a:t>Alert Intelligence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🔍  </a:t>
            </a:r>
            <a:r>
              <a:rPr sz="1500">
                <a:solidFill>
                  <a:srgbClr val="CCCCCC"/>
                </a:solidFill>
              </a:rPr>
              <a:t>Deep Investigation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🔌  </a:t>
            </a:r>
            <a:r>
              <a:rPr sz="1500">
                <a:solidFill>
                  <a:srgbClr val="CCCCCC"/>
                </a:solidFill>
              </a:rPr>
              <a:t>Network Correlation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💥  </a:t>
            </a:r>
            <a:r>
              <a:rPr sz="1500">
                <a:solidFill>
                  <a:srgbClr val="CCCCCC"/>
                </a:solidFill>
              </a:rPr>
              <a:t>Blast Radius Analysis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📈  </a:t>
            </a:r>
            <a:r>
              <a:rPr sz="1500">
                <a:solidFill>
                  <a:srgbClr val="CCCCCC"/>
                </a:solidFill>
              </a:rPr>
              <a:t>Capacity Forecasting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📖  </a:t>
            </a:r>
            <a:r>
              <a:rPr sz="1500">
                <a:solidFill>
                  <a:srgbClr val="CCCCCC"/>
                </a:solidFill>
              </a:rPr>
              <a:t>Runbook Search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/>
              <a:t>🛠️  </a:t>
            </a:r>
            <a:r>
              <a:rPr sz="1500">
                <a:solidFill>
                  <a:srgbClr val="CCCCCC"/>
                </a:solidFill>
              </a:rPr>
              <a:t>Guided Remediation</a:t>
            </a:r>
          </a:p>
          <a:p>
            <a:pPr>
              <a:spcBef>
                <a:spcPts val="1000"/>
              </a:spcBef>
            </a:pPr>
            <a:r>
              <a:rPr sz="1000" i="1">
                <a:solidFill>
                  <a:srgbClr val="999999"/>
                </a:solidFill>
              </a:rPr>
              <a:t>(7 of 11 tools shown)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1 / 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Why AI Autopilot?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F4444"/>
                </a:solidFill>
              </a:rPr>
              <a:t>✗  Alert Fatigue</a:t>
            </a:r>
          </a:p>
          <a:p>
            <a:r>
              <a:rPr sz="1300">
                <a:solidFill>
                  <a:srgbClr val="CCCCCC"/>
                </a:solidFill>
              </a:rPr>
              <a:t>     Operators sift through hundreds of alerts manually to find what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F4444"/>
                </a:solidFill>
              </a:rPr>
              <a:t>✗  Slow Triage</a:t>
            </a:r>
          </a:p>
          <a:p>
            <a:r>
              <a:rPr sz="1300">
                <a:solidFill>
                  <a:srgbClr val="CCCCCC"/>
                </a:solidFill>
              </a:rPr>
              <a:t>     Root cause identification takes 30-60 min across multiple consoles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F4444"/>
                </a:solidFill>
              </a:rPr>
              <a:t>✗  Siloed Data</a:t>
            </a:r>
          </a:p>
          <a:p>
            <a:r>
              <a:rPr sz="1300">
                <a:solidFill>
                  <a:srgbClr val="CCCCCC"/>
                </a:solidFill>
              </a:rPr>
              <a:t>     Server metrics, network telemetry, and incidents live in separate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EF4444"/>
                </a:solidFill>
              </a:rPr>
              <a:t>✗  Manual Runbooks</a:t>
            </a:r>
          </a:p>
          <a:p>
            <a:r>
              <a:rPr sz="1300">
                <a:solidFill>
                  <a:srgbClr val="CCCCCC"/>
                </a:solidFill>
              </a:rPr>
              <a:t>     Engineers search wikis and PDFs for resolution steps under pressure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463040"/>
            <a:ext cx="27432" cy="4389120"/>
          </a:xfrm>
          <a:prstGeom prst="rect">
            <a:avLst/>
          </a:prstGeom>
          <a:solidFill>
            <a:srgbClr val="2E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4630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AI AUTOPILOT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A982"/>
                </a:solidFill>
              </a:rPr>
              <a:t>✓  Natural Language Ops</a:t>
            </a:r>
          </a:p>
          <a:p>
            <a:r>
              <a:rPr sz="1300">
                <a:solidFill>
                  <a:srgbClr val="CCCCCC"/>
                </a:solidFill>
              </a:rPr>
              <a:t>     Ask questions in plain English — the AI calls the right tools automatically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971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A982"/>
                </a:solidFill>
              </a:rPr>
              <a:t>✓  End-to-End Investigation</a:t>
            </a:r>
          </a:p>
          <a:p>
            <a:r>
              <a:rPr sz="1300">
                <a:solidFill>
                  <a:srgbClr val="CCCCCC"/>
                </a:solidFill>
              </a:rPr>
              <a:t>     Alerts → Server → Network → Blast Radius in one conversation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9319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A982"/>
                </a:solidFill>
              </a:rPr>
              <a:t>✓  Unified Correlation</a:t>
            </a:r>
          </a:p>
          <a:p>
            <a:r>
              <a:rPr sz="1300">
                <a:solidFill>
                  <a:srgbClr val="CCCCCC"/>
                </a:solidFill>
              </a:rPr>
              <a:t>     Cross-layer analysis: OpsRamp metrics + Juniper network 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8920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1A982"/>
                </a:solidFill>
              </a:rPr>
              <a:t>✓  Instant Runbooks &amp; Remediation</a:t>
            </a:r>
          </a:p>
          <a:p>
            <a:r>
              <a:rPr sz="1300">
                <a:solidFill>
                  <a:srgbClr val="CCCCCC"/>
                </a:solidFill>
              </a:rPr>
              <a:t>     AI retrieves procedures and generates CLI fix commands on demand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760720"/>
            <a:ext cx="10698480" cy="54864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⚡  MTTR Reduction Target: 30-60 minutes → under 5 minutes with AI-assisted triage and guided remediation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2 /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Architecture &amp;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029200" cy="5943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874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Web UI  /  MCP Client (VS Code, Claude Desktop)  /  Terminal REPL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3774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999999"/>
                </a:solidFill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5029200" cy="5943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LLM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 err="1">
                <a:solidFill>
                  <a:srgbClr val="CCCCCC"/>
                </a:solidFill>
              </a:rPr>
              <a:t>Ollama</a:t>
            </a:r>
            <a:r>
              <a:rPr sz="1100" dirty="0">
                <a:solidFill>
                  <a:srgbClr val="CCCCCC"/>
                </a:solidFill>
              </a:rPr>
              <a:t> (llama3.1) — Tool-calling orchestration loop with streaming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1089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999999"/>
                </a:solidFill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5029200" cy="5943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33756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11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286036"/>
            <a:ext cx="338328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CCCCCC"/>
                </a:solidFill>
              </a:rPr>
              <a:t>Alerts • Resources • Resource Details • Incidents • Investigation • Summary</a:t>
            </a:r>
            <a:r>
              <a:rPr lang="en-US" sz="1100" dirty="0">
                <a:solidFill>
                  <a:srgbClr val="CCCCCC"/>
                </a:solidFill>
              </a:rPr>
              <a:t>  • </a:t>
            </a:r>
            <a:r>
              <a:rPr sz="1100" dirty="0">
                <a:solidFill>
                  <a:srgbClr val="CCCCCC"/>
                </a:solidFill>
              </a:rPr>
              <a:t>Capacity • KB Search • Network Correlation • Blast Radius • Remediation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999999"/>
                </a:solidFill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5029200" cy="5943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069080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Data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0690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OpsRamp API (mocked)  |  Juniper Mist API (simulated)  |  PDF Runbooks (RAG)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27432" cy="4389120"/>
          </a:xfrm>
          <a:prstGeom prst="rect">
            <a:avLst/>
          </a:prstGeom>
          <a:solidFill>
            <a:srgbClr val="2E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DATA SOURCES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1920240"/>
            <a:ext cx="5029200" cy="137160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0" y="196596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OpsRamp APIs — Mocked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CCCCC"/>
                </a:solidFill>
              </a:rPr>
              <a:t>Based on the public OpsRamp V3 developer API:</a:t>
            </a:r>
          </a:p>
          <a:p>
            <a:pPr>
              <a:spcBef>
                <a:spcPts val="200"/>
              </a:spcBef>
            </a:pPr>
            <a:r>
              <a:rPr sz="1200" b="1">
                <a:solidFill>
                  <a:srgbClr val="01A982"/>
                </a:solidFill>
              </a:rPr>
              <a:t>https://develop.opsramp.com/v3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999999"/>
                </a:solidFill>
              </a:rPr>
              <a:t>Alerts, Resources, Incidents, and Metric History are mocked in-memory using realistic schemas matching the V3 API response format.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3474720"/>
            <a:ext cx="5074920" cy="15087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66560" y="3520440"/>
            <a:ext cx="475488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FFFFFF"/>
                </a:solidFill>
              </a:rPr>
              <a:t>Juniper Mist APIs — </a:t>
            </a:r>
            <a:r>
              <a:rPr lang="en-US" sz="1500" b="1" dirty="0">
                <a:solidFill>
                  <a:srgbClr val="FFFFFF"/>
                </a:solidFill>
              </a:rPr>
              <a:t>Mocked &amp; </a:t>
            </a:r>
            <a:r>
              <a:rPr sz="1500" b="1" dirty="0">
                <a:solidFill>
                  <a:srgbClr val="FFFFFF"/>
                </a:solidFill>
              </a:rPr>
              <a:t>Simulated</a:t>
            </a:r>
          </a:p>
          <a:p>
            <a:pPr>
              <a:spcBef>
                <a:spcPts val="300"/>
              </a:spcBef>
            </a:pPr>
            <a:r>
              <a:rPr sz="1100" dirty="0">
                <a:solidFill>
                  <a:srgbClr val="CCCCCC"/>
                </a:solidFill>
              </a:rPr>
              <a:t>Modeled after the Juniper Mist Switch Stats API:</a:t>
            </a:r>
            <a:r>
              <a:rPr lang="en-US" sz="1100" dirty="0">
                <a:solidFill>
                  <a:srgbClr val="CCCCCC"/>
                </a:solidFill>
              </a:rPr>
              <a:t> Not sure about the validity of the API’s</a:t>
            </a:r>
            <a:endParaRPr sz="1100" dirty="0">
              <a:solidFill>
                <a:srgbClr val="CCCCCC"/>
              </a:solidFill>
            </a:endParaRPr>
          </a:p>
          <a:p>
            <a:pPr>
              <a:spcBef>
                <a:spcPts val="100"/>
              </a:spcBef>
            </a:pPr>
            <a:r>
              <a:rPr sz="1100" b="1" dirty="0">
                <a:solidFill>
                  <a:srgbClr val="01A982"/>
                </a:solidFill>
              </a:rPr>
              <a:t>GET /</a:t>
            </a:r>
            <a:r>
              <a:rPr sz="1100" b="1" dirty="0" err="1">
                <a:solidFill>
                  <a:srgbClr val="01A982"/>
                </a:solidFill>
              </a:rPr>
              <a:t>api</a:t>
            </a:r>
            <a:r>
              <a:rPr sz="1100" b="1" dirty="0">
                <a:solidFill>
                  <a:srgbClr val="01A982"/>
                </a:solidFill>
              </a:rPr>
              <a:t>/v1/sites/{</a:t>
            </a:r>
            <a:r>
              <a:rPr sz="1100" b="1" dirty="0" err="1">
                <a:solidFill>
                  <a:srgbClr val="01A982"/>
                </a:solidFill>
              </a:rPr>
              <a:t>site_id</a:t>
            </a:r>
            <a:r>
              <a:rPr sz="1100" b="1" dirty="0">
                <a:solidFill>
                  <a:srgbClr val="01A982"/>
                </a:solidFill>
              </a:rPr>
              <a:t>}/stats/</a:t>
            </a:r>
            <a:r>
              <a:rPr sz="1100" b="1" dirty="0" err="1">
                <a:solidFill>
                  <a:srgbClr val="01A982"/>
                </a:solidFill>
              </a:rPr>
              <a:t>devices?type</a:t>
            </a:r>
            <a:r>
              <a:rPr sz="1100" b="1" dirty="0">
                <a:solidFill>
                  <a:srgbClr val="01A982"/>
                </a:solidFill>
              </a:rPr>
              <a:t>=switch</a:t>
            </a:r>
          </a:p>
          <a:p>
            <a:pPr>
              <a:spcBef>
                <a:spcPts val="100"/>
              </a:spcBef>
            </a:pPr>
            <a:r>
              <a:rPr sz="1000" dirty="0">
                <a:solidFill>
                  <a:srgbClr val="999999"/>
                </a:solidFill>
              </a:rPr>
              <a:t>Ref: Juniper Mist API (community ref: </a:t>
            </a:r>
            <a:r>
              <a:rPr sz="1000" dirty="0" err="1">
                <a:solidFill>
                  <a:srgbClr val="999999"/>
                </a:solidFill>
              </a:rPr>
              <a:t>doc.mist-lab.fr</a:t>
            </a:r>
            <a:r>
              <a:rPr sz="1000" dirty="0">
                <a:solidFill>
                  <a:srgbClr val="999999"/>
                </a:solidFill>
              </a:rPr>
              <a:t>)</a:t>
            </a:r>
          </a:p>
          <a:p>
            <a:pPr>
              <a:spcBef>
                <a:spcPts val="300"/>
              </a:spcBef>
            </a:pPr>
            <a:r>
              <a:rPr sz="1000" dirty="0">
                <a:solidFill>
                  <a:srgbClr val="999999"/>
                </a:solidFill>
              </a:rPr>
              <a:t>Covers: EX switch stats, port errors, packet loss, CRC errors, link flaps, latency/jitter, and dependency graph for blast radius.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9984" y="5095284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CCCCCC"/>
                </a:solidFill>
              </a:rPr>
              <a:t>📖  PDF Runbooks — Real PDFs ingested via RAG pipeline (chunking → embedding → vector search)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3 / 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11 AI Tools — Data &amp; Investigation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The LLM autonomously picks which tools to call based on the user’s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228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00200"/>
            <a:ext cx="1965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00200"/>
            <a:ext cx="4251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600200"/>
            <a:ext cx="3703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Data 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965960"/>
            <a:ext cx="10698480" cy="621792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020824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20824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search_alerts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020824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Find alerts by severity, priority, resource, or keyword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020824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Alerts API (mocked)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587752"/>
            <a:ext cx="10698480" cy="621792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2642616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42616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search_resources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642616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Find servers/VMs by cloud, region, type, tags, or keyword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42616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Resources API (mocked)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09544"/>
            <a:ext cx="10698480" cy="621792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3264408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264408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get_resource_details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264408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Deep-dive on one resource: config, CPU/mem/disk metrics, tags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264408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Resources API (mocked)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831336"/>
            <a:ext cx="10698480" cy="621792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3886200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886200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search_incidents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886200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Find incidents by status, priority, or keyword 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3886200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Incidents API (mocked)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453128"/>
            <a:ext cx="10698480" cy="621792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" y="4507992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507992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investigate_resource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4507992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One-call investigation: resource + alerts + incidents + metrics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507992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(all APIs combined)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074920"/>
            <a:ext cx="10698480" cy="621792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" y="5129784"/>
            <a:ext cx="228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129784"/>
            <a:ext cx="1965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get_environment_summary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5129784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Dashboard overview: resource counts, alert/incident breakdown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5129784"/>
            <a:ext cx="3703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OpsRamp (aggregated)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064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999999"/>
                </a:solidFill>
              </a:rPr>
              <a:t>These 6 tools query and retrieve data — the next 5 tools analyze, correlate, and generate actionable output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68862" y="6446520"/>
            <a:ext cx="45397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900" dirty="0">
                <a:solidFill>
                  <a:srgbClr val="999999"/>
                </a:solidFill>
              </a:rPr>
              <a:t>4</a:t>
            </a:r>
            <a:r>
              <a:rPr sz="900" dirty="0">
                <a:solidFill>
                  <a:srgbClr val="999999"/>
                </a:solidFill>
              </a:rPr>
              <a:t> /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11 AI Tools — Analysis &amp;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These tools cross-correlate data from OpsRamp + Juniper and produce actionable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274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00200"/>
            <a:ext cx="2148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600200"/>
            <a:ext cx="3794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60020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965960"/>
            <a:ext cx="10698480" cy="7772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020824"/>
            <a:ext cx="27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20824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predict_capacity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020824"/>
            <a:ext cx="3794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Forecast when CPU/memory/disk hits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02082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30-day metric history → linear regression
→ predicts exhaustion date per resource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43200"/>
            <a:ext cx="10698480" cy="7772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2798064"/>
            <a:ext cx="27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798064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search_knowledge_base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798064"/>
            <a:ext cx="3794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Search runbook PDFs for procedures &amp; fixes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79806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PDF → chunk (500 chars) → embed with
nomic-embed-text → cosine similarity search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520440"/>
            <a:ext cx="10698480" cy="7772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3575304"/>
            <a:ext cx="27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575304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correlate_network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575304"/>
            <a:ext cx="3794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Check if a server issue is caused by the network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357530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Resolve server IP → find Juniper switch port
→ analyze: packet loss, CRC, link flaps, jitter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97680"/>
            <a:ext cx="10698480" cy="7772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4352544"/>
            <a:ext cx="3657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352544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blast_radius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4352544"/>
            <a:ext cx="3794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Map the full impact of an infrastructure failure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435254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BFS traversal of dependency graph:
server → apps → downstream → user groups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074920"/>
            <a:ext cx="10698480" cy="7772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" y="5129784"/>
            <a:ext cx="411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5129784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1A982"/>
                </a:solidFill>
              </a:rPr>
              <a:t>get_remediation_plan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5129784"/>
            <a:ext cx="3794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CCCC"/>
                </a:solidFill>
              </a:rPr>
              <a:t>Generate step-by-step fix with CLI commands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5129784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Detects issue type → builds Junos CLI steps
(clear counters, bounce port, force duplex, etc.)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68060" y="6446520"/>
            <a:ext cx="4555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900" dirty="0">
                <a:solidFill>
                  <a:srgbClr val="999999"/>
                </a:solidFill>
              </a:rPr>
              <a:t>5 / </a:t>
            </a:r>
            <a:r>
              <a:rPr sz="900" dirty="0">
                <a:solidFill>
                  <a:srgbClr val="999999"/>
                </a:solidFill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OpsRamp ↔ Juniper: How Data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IP ADDRESS = THE JOIN KEY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029200" cy="20116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OpsRamp Resource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</a:rPr>
              <a:t>  Name: "app-server-prod-02"    IP: 10.0.1.103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01A982"/>
                </a:solidFill>
              </a:rPr>
              <a:t>         ──── IP 10.0.1.103 ────▶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FFFFF"/>
                </a:solidFill>
              </a:rPr>
              <a:t>Juniper Switch Port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</a:rPr>
              <a:t>  Switch: sw-dc-east-01  Port: ge-0/0/3  IP: 10.0.1.103</a:t>
            </a:r>
          </a:p>
          <a:p>
            <a:pPr>
              <a:spcBef>
                <a:spcPts val="1000"/>
              </a:spcBef>
            </a:pPr>
            <a:r>
              <a:rPr sz="1100">
                <a:solidFill>
                  <a:srgbClr val="999999"/>
                </a:solidFill>
              </a:rPr>
              <a:t>The agent looks up a server’s IP in OpsRamp, finds the matching
switch port in Juniper, and cross-correlates metrics from both.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PORT MAPPING SCENARIOS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5029200" cy="50292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1 Server → 1 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45312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Standard. Each physical server has one NIC
cabled to one switch port. Direct correlation.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65192"/>
            <a:ext cx="5029200" cy="50292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1A982"/>
                </a:solidFill>
              </a:rPr>
              <a:t>K8s Pod → Node 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983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Pods have overlay IPs (10.244.x.x) invisible to switch.
Correlation uses Node IP → switch port.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95544"/>
            <a:ext cx="5029200" cy="50292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554126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C107"/>
                </a:solidFill>
              </a:rPr>
              <a:t>N VMs → 1 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551383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Hypervisor host on one port. Many VMs share it.
Correlation is host-level, not per-VM.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371600"/>
            <a:ext cx="27432" cy="4389120"/>
          </a:xfrm>
          <a:prstGeom prst="rect">
            <a:avLst/>
          </a:prstGeom>
          <a:solidFill>
            <a:srgbClr val="2E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WHEN OPSRAMP ↔ JUNIPER MAPPING WORKS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1828800"/>
            <a:ext cx="5029200" cy="201168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1874519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1A982"/>
                </a:solidFill>
              </a:rPr>
              <a:t>✓  Two Prerequisites for Correlation</a:t>
            </a:r>
          </a:p>
          <a:p>
            <a:pPr>
              <a:spcBef>
                <a:spcPts val="600"/>
              </a:spcBef>
            </a:pPr>
            <a:r>
              <a:rPr sz="1200" b="1" dirty="0">
                <a:solidFill>
                  <a:srgbClr val="FFFFFF"/>
                </a:solidFill>
              </a:rPr>
              <a:t>  1. Juniper Switches in the DC</a:t>
            </a:r>
          </a:p>
          <a:p>
            <a:pPr>
              <a:spcBef>
                <a:spcPts val="100"/>
              </a:spcBef>
            </a:pPr>
            <a:r>
              <a:rPr sz="1000" dirty="0">
                <a:solidFill>
                  <a:srgbClr val="CCCCCC"/>
                </a:solidFill>
              </a:rPr>
              <a:t>     Physical switch fabric connecting servers — provides port stats, packet loss, link flaps, CRC errors</a:t>
            </a:r>
          </a:p>
          <a:p>
            <a:pPr>
              <a:spcBef>
                <a:spcPts val="600"/>
              </a:spcBef>
            </a:pPr>
            <a:r>
              <a:rPr sz="1200" b="1" dirty="0">
                <a:solidFill>
                  <a:srgbClr val="FFFFFF"/>
                </a:solidFill>
              </a:rPr>
              <a:t>  2. </a:t>
            </a:r>
            <a:r>
              <a:rPr sz="1200" b="1" dirty="0" err="1">
                <a:solidFill>
                  <a:srgbClr val="FFFFFF"/>
                </a:solidFill>
              </a:rPr>
              <a:t>OpsRamp</a:t>
            </a:r>
            <a:r>
              <a:rPr sz="1200" b="1" dirty="0">
                <a:solidFill>
                  <a:srgbClr val="FFFFFF"/>
                </a:solidFill>
              </a:rPr>
              <a:t> Collector Deployed</a:t>
            </a:r>
          </a:p>
          <a:p>
            <a:pPr>
              <a:spcBef>
                <a:spcPts val="100"/>
              </a:spcBef>
            </a:pPr>
            <a:r>
              <a:rPr sz="1000" dirty="0">
                <a:solidFill>
                  <a:srgbClr val="CCCCCC"/>
                </a:solidFill>
              </a:rPr>
              <a:t>     Collector gathers server-side metrics (CPU, memory, disk, alerts, incidents) from the same infra</a:t>
            </a:r>
          </a:p>
          <a:p>
            <a:pPr>
              <a:spcBef>
                <a:spcPts val="800"/>
              </a:spcBef>
            </a:pPr>
            <a:r>
              <a:rPr sz="1100" b="1" dirty="0">
                <a:solidFill>
                  <a:srgbClr val="01A982"/>
                </a:solidFill>
              </a:rPr>
              <a:t>  → When both are present, </a:t>
            </a:r>
            <a:r>
              <a:rPr sz="1100" b="1" dirty="0" err="1">
                <a:solidFill>
                  <a:srgbClr val="01A982"/>
                </a:solidFill>
              </a:rPr>
              <a:t>OpsRamp</a:t>
            </a:r>
            <a:r>
              <a:rPr sz="1100" b="1" dirty="0">
                <a:solidFill>
                  <a:srgbClr val="01A982"/>
                </a:solidFill>
              </a:rPr>
              <a:t> server stats can be</a:t>
            </a:r>
          </a:p>
          <a:p>
            <a:pPr>
              <a:spcBef>
                <a:spcPts val="100"/>
              </a:spcBef>
            </a:pPr>
            <a:r>
              <a:rPr sz="1100" b="1" dirty="0">
                <a:solidFill>
                  <a:srgbClr val="01A982"/>
                </a:solidFill>
              </a:rPr>
              <a:t>     correlated with Juniper switch stats via IP → port mapping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023360"/>
            <a:ext cx="5029200" cy="164592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406908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Example: HPE GreenLake DC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CCCCCC"/>
                </a:solidFill>
              </a:rPr>
              <a:t>  •  HPE-managed datacenter with Juniper EX switches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CCCCCC"/>
                </a:solidFill>
              </a:rPr>
              <a:t>  •  OpsRamp collector monitors K8s nodes, VMs, and apps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CCCCCC"/>
                </a:solidFill>
              </a:rPr>
              <a:t>  •  Node IP (e.g. 10.0.4.24) maps to switch port ge-0/0/5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CCCCCC"/>
                </a:solidFill>
              </a:rPr>
              <a:t>  •  AI correlates: high HTTP latency → port packet loss → link flaps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68060" y="6446520"/>
            <a:ext cx="45557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900" dirty="0">
                <a:solidFill>
                  <a:srgbClr val="999999"/>
                </a:solidFill>
              </a:rPr>
              <a:t>6</a:t>
            </a:r>
            <a:r>
              <a:rPr sz="900" dirty="0">
                <a:solidFill>
                  <a:srgbClr val="999999"/>
                </a:solidFill>
              </a:rPr>
              <a:t> /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End-to-End: "Why is GreenLake Portal Slow?"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10698480" cy="45720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261872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 dirty="0">
                <a:solidFill>
                  <a:srgbClr val="FFFFFF"/>
                </a:solidFill>
              </a:rPr>
              <a:t>💬  User types: "Why is </a:t>
            </a:r>
            <a:r>
              <a:rPr sz="1500" b="1" dirty="0" err="1">
                <a:solidFill>
                  <a:srgbClr val="FFFFFF"/>
                </a:solidFill>
              </a:rPr>
              <a:t>greenlake</a:t>
            </a:r>
            <a:r>
              <a:rPr sz="1500" b="1" dirty="0">
                <a:solidFill>
                  <a:srgbClr val="FFFFFF"/>
                </a:solidFill>
              </a:rPr>
              <a:t> portal slow?"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1947672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7452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search_alerts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856232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Finds 2 critical alerts on k8s-node-04 (HPE GreenLake):
container restart loop (P0) + HTTP response 6.2s (P1)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19659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OpsRamp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23160"/>
            <a:ext cx="274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1A982"/>
                </a:solidFill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496312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4400" y="2615184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542032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investigate_resource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523744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Deep-dives k8s-node-04: CPU 60%, memory 65%, disk 45%,
2 active alerts, 1 open incident — server metrics look 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6334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OpsRamp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090672"/>
            <a:ext cx="274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1A982"/>
                </a:solidFill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163824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14400" y="3282696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209544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correlate_network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191256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Resolves greenlake-portal → k8s-node-04 → IP 10.0.4.24
Finds sw-dc-east-04:ge-0/0/5: 8.3% loss, 156K errors, 100Mbps half-duplex, link flaps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30098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Juniper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58184"/>
            <a:ext cx="274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1A982"/>
                </a:solidFill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831336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14400" y="3950208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877056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blast_radius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858768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BFS traversal: k8s-node-04 → 9 apps including greenlake-portal,
aruba-central, dscc-console → 5,200 users affected, $75K+/hr revenue at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96849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Dependency
Graph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425696"/>
            <a:ext cx="274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1A982"/>
                </a:solidFill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498848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544568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search_knowledge_base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452628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RAG search finds runbook: 'Switch Port Troubleshooting' —
Junos CLI commands for link flap diagnosis &amp; cable replacement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46360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PDF / RAG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093208"/>
            <a:ext cx="274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01A982"/>
                </a:solidFill>
              </a:rPr>
              <a:t>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5166360"/>
            <a:ext cx="10698480" cy="64008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914400" y="5285232"/>
            <a:ext cx="402336" cy="402336"/>
          </a:xfrm>
          <a:prstGeom prst="ellipse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521208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get_remediation_plan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5193792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CCCCC"/>
                </a:solidFill>
              </a:rPr>
              <a:t>Generates 8-step fix: verify port → clear counters → check optics
→ force duplex → bounce port → replace cable — with exact Junos CLI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53035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999999"/>
                </a:solidFill>
              </a:rPr>
              <a:t>Juniper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852160"/>
            <a:ext cx="10698480" cy="45720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⚡  Result: Root cause = link flaps + duplex mismatch on ge-0/0/5, business impact = 5,200 users across 9 apps, and 8-step CLI fix — all in one conversation, under 2 minutes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68862" y="6446520"/>
            <a:ext cx="45397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900" dirty="0">
                <a:solidFill>
                  <a:srgbClr val="999999"/>
                </a:solidFill>
              </a:rPr>
              <a:t>7</a:t>
            </a:r>
            <a:r>
              <a:rPr sz="900" dirty="0">
                <a:solidFill>
                  <a:srgbClr val="999999"/>
                </a:solidFill>
              </a:rPr>
              <a:t> / 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KEY TECHNOLOGIES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411480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1874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Usage in HPE AI Autopilot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40280"/>
            <a:ext cx="10698480" cy="5486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31343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Go (Golang)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31343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Core application language — agent orchestrator, HTTP server, tool execution, MCP server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788920"/>
            <a:ext cx="10698480" cy="5486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86207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Ollama + llama3.1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86207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Local LLM inference engine with native tool-calling support for autonomous multi-step reasoning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337560"/>
            <a:ext cx="10698480" cy="5486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341071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MCP (Model Context Protocol)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41071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Open standard by Anthropic — exposes 11 tools to external clients (VS Code Copilot, Claude Desktop) via stdio/HTTP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95935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RAG (Retrieval-Augmented Generation)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95935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PDF runbook ingestion pipeline: text extraction → chunking (500 chars, 100 overlap) → embedding → cosine similarity vector search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434840"/>
            <a:ext cx="10698480" cy="5486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50799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SSE (Server-Sent Events)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450799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Real-time streaming of LLM responses and tool progress indicators to the browser — no WebSockets needed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983480"/>
            <a:ext cx="10698480" cy="5486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505663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HTML / CSS / JavaScript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505663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Embedded single-page web UI with ReadableStream SSE parsing and live markdown rendering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5532120"/>
            <a:ext cx="10698480" cy="548640"/>
          </a:xfrm>
          <a:prstGeom prst="rect">
            <a:avLst/>
          </a:prstGeom>
          <a:solidFill>
            <a:srgbClr val="242736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60527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Docker + Docker Compose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4760" y="560527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Containerized deployment — Ollama + agent in separate containers, supports both native and Docker workflows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080760"/>
            <a:ext cx="10698480" cy="548640"/>
          </a:xfrm>
          <a:prstGeom prst="rect">
            <a:avLst/>
          </a:prstGeom>
          <a:solidFill>
            <a:srgbClr val="1E202E"/>
          </a:solidFill>
          <a:ln w="635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6153912"/>
            <a:ext cx="2788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mcp-go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6153912"/>
            <a:ext cx="7498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CCCCCC"/>
                </a:solidFill>
              </a:rPr>
              <a:t>Go library (mark3labs/mcp-go) for implementing MCP servers — converts tool definitions to MCP protocol format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8 / 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What’s Next —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From innovation demo to strategic initiative — the path to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2579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01A982"/>
                </a:solidFill>
              </a:rPr>
              <a:t>NEAR-TERM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029200" cy="8229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✓  Real OpsRamp API Integration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CCCCCC"/>
                </a:solidFill>
              </a:rPr>
              <a:t>    Replace mocked data layer with live OpsRamp V3 API calls —
authenticate via OAuth, query real alerts/resources/incidents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5029200" cy="8229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✓  Real Juniper Mist API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CCCCCC"/>
                </a:solidFill>
              </a:rPr>
              <a:t>    Connect to production Juniper Mist cloud for live switch stats,
port telemetry, and network event correlation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40"/>
            <a:ext cx="5029200" cy="8229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79476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✓  Expanded Runbook Library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CCCCCC"/>
                </a:solidFill>
              </a:rPr>
              <a:t>    Ingest additional PDF/Markdown runbooks covering server,
network, storage, and application troubleshooting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17720"/>
            <a:ext cx="5029200" cy="822960"/>
          </a:xfrm>
          <a:prstGeom prst="roundRect">
            <a:avLst/>
          </a:prstGeom>
          <a:solidFill>
            <a:srgbClr val="242736"/>
          </a:solidFill>
          <a:ln w="12700">
            <a:solidFill>
              <a:srgbClr val="2E3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4663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✓  LLM Model Upgrades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CCCCCC"/>
                </a:solidFill>
              </a:rPr>
              <a:t>    Evaluate larger models (llama3.1 70B, Mixtral) for improved
tool-calling accuracy and reasoning depth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9 / 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UI Preview — AI Autopilot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CCCCC"/>
                </a:solidFill>
              </a:rPr>
              <a:t>Web UI conversation flow and MCP server integration with VS Code / Claude Desktop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WEB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303520" cy="365760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web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512064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6235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999999"/>
                </a:solidFill>
              </a:rPr>
              <a:t>Streaming conversation with tool call indicators and live markdown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5544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1A982"/>
                </a:solidFill>
              </a:rPr>
              <a:t>MCP 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920240"/>
            <a:ext cx="5303520" cy="3657600"/>
          </a:xfrm>
          <a:prstGeom prst="roundRect">
            <a:avLst/>
          </a:prstGeom>
          <a:solidFill>
            <a:srgbClr val="242736"/>
          </a:solidFill>
          <a:ln w="19050">
            <a:solidFill>
              <a:srgbClr val="01A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cp-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011680"/>
            <a:ext cx="5120640" cy="3474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562356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999999"/>
                </a:solidFill>
              </a:rPr>
              <a:t>MCP protocol exposes all 11 tools to VS Code Copilot and Claude Desktop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10 /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48495" y="64465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999999"/>
                </a:solidFill>
              </a:rPr>
              <a:t>Internal Use Only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37160" cy="634593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916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651760"/>
            <a:ext cx="2103120" cy="36576"/>
          </a:xfrm>
          <a:prstGeom prst="rect">
            <a:avLst/>
          </a:prstGeom>
          <a:solidFill>
            <a:srgbClr val="01A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834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HPE AI Autopilot — Local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29184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1A982"/>
                </a:solidFill>
              </a:rPr>
              <a:t>http://localhost:8080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11480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CCCCCC"/>
                </a:solidFill>
              </a:rPr>
              <a:t>Vishnu Dutt Kidambi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57784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999999"/>
                </a:solidFill>
              </a:rPr>
              <a:t>Questions &amp; Discussion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2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l"/>
            <a:r>
              <a:rPr sz="1000" b="1">
                <a:solidFill>
                  <a:srgbClr val="01A982"/>
                </a:solidFill>
              </a:rPr>
              <a:t>  Hewlett Packard Enterprise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647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999999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1797</Words>
  <Application>Microsoft Macintosh PowerPoint</Application>
  <PresentationFormat>Widescreen</PresentationFormat>
  <Paragraphs>251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Kidambi, Vishnu Dutt</cp:lastModifiedBy>
  <cp:revision>2</cp:revision>
  <dcterms:created xsi:type="dcterms:W3CDTF">2013-01-27T09:14:16Z</dcterms:created>
  <dcterms:modified xsi:type="dcterms:W3CDTF">2026-03-12T18:02:15Z</dcterms:modified>
  <cp:category/>
</cp:coreProperties>
</file>